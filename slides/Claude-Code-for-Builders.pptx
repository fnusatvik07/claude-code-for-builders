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7498080" cy="3611880"/>
          </a:xfrm>
          <a:prstGeom prst="rect">
            <a:avLst/>
          </a:prstGeom>
          <a:solidFill>
            <a:srgbClr val="242019"/>
          </a:solidFill>
          <a:ln w="25400">
            <a:solidFill>
              <a:srgbClr val="D9775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22960" y="777240"/>
            <a:ext cx="7498080" cy="384048"/>
          </a:xfrm>
          <a:prstGeom prst="rect">
            <a:avLst/>
          </a:prstGeom>
          <a:solidFill>
            <a:srgbClr val="2F2B2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161288"/>
            <a:ext cx="7498080" cy="0"/>
          </a:xfrm>
          <a:prstGeom prst="line">
            <a:avLst/>
          </a:prstGeom>
          <a:noFill/>
          <a:ln w="12700">
            <a:solidFill>
              <a:srgbClr val="44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2416" y="914400"/>
            <a:ext cx="118872" cy="118872"/>
          </a:xfrm>
          <a:prstGeom prst="ellipse">
            <a:avLst/>
          </a:prstGeom>
          <a:solidFill>
            <a:srgbClr val="E0726B"/>
          </a:solidFill>
          <a:ln/>
        </p:spPr>
      </p:sp>
      <p:sp>
        <p:nvSpPr>
          <p:cNvPr id="6" name="Shape 4"/>
          <p:cNvSpPr/>
          <p:nvPr/>
        </p:nvSpPr>
        <p:spPr>
          <a:xfrm>
            <a:off x="1225296" y="914400"/>
            <a:ext cx="118872" cy="118872"/>
          </a:xfrm>
          <a:prstGeom prst="ellipse">
            <a:avLst/>
          </a:prstGeom>
          <a:solidFill>
            <a:srgbClr val="E2B250"/>
          </a:solidFill>
          <a:ln/>
        </p:spPr>
      </p:sp>
      <p:sp>
        <p:nvSpPr>
          <p:cNvPr id="7" name="Shape 5"/>
          <p:cNvSpPr/>
          <p:nvPr/>
        </p:nvSpPr>
        <p:spPr>
          <a:xfrm>
            <a:off x="1408176" y="914400"/>
            <a:ext cx="118872" cy="118872"/>
          </a:xfrm>
          <a:prstGeom prst="ellipse">
            <a:avLst/>
          </a:prstGeom>
          <a:solidFill>
            <a:srgbClr val="84B07A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80467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· ~/taskflow · zsh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4B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600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7830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100" kern="0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1143000" y="24688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1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BUILDERS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1188720" y="331012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pair-programmer that lives in the terminal.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1783080" cy="310896"/>
          </a:xfrm>
          <a:prstGeom prst="rect">
            <a:avLst/>
          </a:prstGeom>
          <a:solidFill>
            <a:srgbClr val="D977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A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SENSE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452628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Launchpad community  ·  The one-hour hands-on class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242019"/>
          </a:solidFill>
          <a:ln/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0040" y="384048"/>
            <a:ext cx="8503920" cy="365760"/>
          </a:xfrm>
          <a:prstGeom prst="rect">
            <a:avLst/>
          </a:prstGeom>
          <a:solidFill>
            <a:srgbClr val="2F2B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44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512064"/>
            <a:ext cx="109728" cy="109728"/>
          </a:xfrm>
          <a:prstGeom prst="ellipse">
            <a:avLst/>
          </a:prstGeom>
          <a:solidFill>
            <a:srgbClr val="E0726B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512064"/>
            <a:ext cx="109728" cy="109728"/>
          </a:xfrm>
          <a:prstGeom prst="ellipse">
            <a:avLst/>
          </a:prstGeom>
          <a:solidFill>
            <a:srgbClr val="E2B250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512064"/>
            <a:ext cx="109728" cy="109728"/>
          </a:xfrm>
          <a:prstGeom prst="ellipse">
            <a:avLst/>
          </a:prstGeom>
          <a:solidFill>
            <a:srgbClr val="84B07A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1148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agenda.md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1A1916">
              <a:alpha val="0"/>
            </a:srgbClr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claude-code-for-builders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32104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NEXT HOUR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1207008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658368" y="1874520"/>
            <a:ext cx="3840480" cy="73152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1874520"/>
            <a:ext cx="50292" cy="731520"/>
          </a:xfrm>
          <a:prstGeom prst="rect">
            <a:avLst/>
          </a:prstGeom>
          <a:solidFill>
            <a:srgbClr val="84B07A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18745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4B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16736" y="1993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&amp; get oriented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16736" y="22768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install, log in, where things live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36008" y="1874520"/>
            <a:ext cx="3840480" cy="73152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36008" y="1874520"/>
            <a:ext cx="50292" cy="7315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1" name="Text 19"/>
          <p:cNvSpPr/>
          <p:nvPr/>
        </p:nvSpPr>
        <p:spPr>
          <a:xfrm>
            <a:off x="4782312" y="18745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294376" y="1993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loop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294376" y="22768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ask, edit, commit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" y="2734056"/>
            <a:ext cx="3840480" cy="73152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2734056"/>
            <a:ext cx="50292" cy="731520"/>
          </a:xfrm>
          <a:prstGeom prst="rect">
            <a:avLst/>
          </a:prstGeom>
          <a:solidFill>
            <a:srgbClr val="E2B250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2734056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B2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316736" y="2852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16736" y="31363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commands, context, permissions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636008" y="2734056"/>
            <a:ext cx="3840480" cy="73152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36008" y="2734056"/>
            <a:ext cx="50292" cy="731520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31" name="Text 29"/>
          <p:cNvSpPr/>
          <p:nvPr/>
        </p:nvSpPr>
        <p:spPr>
          <a:xfrm>
            <a:off x="4782312" y="2734056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9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294376" y="2852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work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5294376" y="31363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 bug, ship a feature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58368" y="3593592"/>
            <a:ext cx="3840480" cy="73152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" y="3593592"/>
            <a:ext cx="50292" cy="731520"/>
          </a:xfrm>
          <a:prstGeom prst="rect">
            <a:avLst/>
          </a:prstGeom>
          <a:solidFill>
            <a:srgbClr val="7FA6C4"/>
          </a:solidFill>
          <a:ln/>
        </p:spPr>
      </p:sp>
      <p:sp>
        <p:nvSpPr>
          <p:cNvPr id="36" name="Text 34"/>
          <p:cNvSpPr/>
          <p:nvPr/>
        </p:nvSpPr>
        <p:spPr>
          <a:xfrm>
            <a:off x="804672" y="3593592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316736" y="37124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yours &amp; track it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1316736" y="39959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CLAUDE.md, extensions, usage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636008" y="3593592"/>
            <a:ext cx="3840480" cy="73152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36008" y="3593592"/>
            <a:ext cx="50292" cy="731520"/>
          </a:xfrm>
          <a:prstGeom prst="rect">
            <a:avLst/>
          </a:prstGeom>
          <a:solidFill>
            <a:srgbClr val="84B07A"/>
          </a:solidFill>
          <a:ln/>
        </p:spPr>
      </p:sp>
      <p:sp>
        <p:nvSpPr>
          <p:cNvPr id="41" name="Text 39"/>
          <p:cNvSpPr/>
          <p:nvPr/>
        </p:nvSpPr>
        <p:spPr>
          <a:xfrm>
            <a:off x="4782312" y="3593592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4B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294376" y="37124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&amp; practice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5294376" y="39959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 and homework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242019"/>
          </a:solidFill>
          <a:ln/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0040" y="384048"/>
            <a:ext cx="8503920" cy="365760"/>
          </a:xfrm>
          <a:prstGeom prst="rect">
            <a:avLst/>
          </a:prstGeom>
          <a:solidFill>
            <a:srgbClr val="2F2B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44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512064"/>
            <a:ext cx="109728" cy="109728"/>
          </a:xfrm>
          <a:prstGeom prst="ellipse">
            <a:avLst/>
          </a:prstGeom>
          <a:solidFill>
            <a:srgbClr val="E0726B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512064"/>
            <a:ext cx="109728" cy="109728"/>
          </a:xfrm>
          <a:prstGeom prst="ellipse">
            <a:avLst/>
          </a:prstGeom>
          <a:solidFill>
            <a:srgbClr val="E2B250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512064"/>
            <a:ext cx="109728" cy="109728"/>
          </a:xfrm>
          <a:prstGeom prst="ellipse">
            <a:avLst/>
          </a:prstGeom>
          <a:solidFill>
            <a:srgbClr val="84B07A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1148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what-is-claude-code.md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1A1916">
              <a:alpha val="0"/>
            </a:srgbClr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claude-code-for-builders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32104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1207008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Claude Code?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58368" y="1874520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coding agent that lives in your terminal. It reads your project, runs commands, and writes code, all by talking to it in plain English.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8368" y="2697480"/>
            <a:ext cx="3840480" cy="749808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2697480"/>
            <a:ext cx="50292" cy="749808"/>
          </a:xfrm>
          <a:prstGeom prst="rect">
            <a:avLst/>
          </a:prstGeom>
          <a:solidFill>
            <a:srgbClr val="84B07A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28163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Understand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" y="31181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codebase in minutes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36008" y="2697480"/>
            <a:ext cx="3840480" cy="749808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36008" y="2697480"/>
            <a:ext cx="50292" cy="74980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1" name="Text 19"/>
          <p:cNvSpPr/>
          <p:nvPr/>
        </p:nvSpPr>
        <p:spPr>
          <a:xfrm>
            <a:off x="4818888" y="28163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18888" y="31181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from a description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8368" y="3566160"/>
            <a:ext cx="3840480" cy="749808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3566160"/>
            <a:ext cx="50292" cy="749808"/>
          </a:xfrm>
          <a:prstGeom prst="rect">
            <a:avLst/>
          </a:prstGeom>
          <a:solidFill>
            <a:srgbClr val="E2B250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36850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41248" y="39867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fix what's broken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636008" y="3566160"/>
            <a:ext cx="3840480" cy="749808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36008" y="3566160"/>
            <a:ext cx="50292" cy="749808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29" name="Text 27"/>
          <p:cNvSpPr/>
          <p:nvPr/>
        </p:nvSpPr>
        <p:spPr>
          <a:xfrm>
            <a:off x="4818888" y="36850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818888" y="39867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docs, and commits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8503920" cy="4498848"/>
          </a:xfrm>
          <a:prstGeom prst="rect">
            <a:avLst/>
          </a:prstGeom>
          <a:solidFill>
            <a:srgbClr val="242019"/>
          </a:solidFill>
          <a:ln w="19050">
            <a:solidFill>
              <a:srgbClr val="D9775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0040" y="1874520"/>
            <a:ext cx="109728" cy="13716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41248" y="2212848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&amp; get oriented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68680" y="31546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Install, log in, and learn to read the screen and find your files.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claude-code-for-builders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32104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242019"/>
          </a:solidFill>
          <a:ln/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0040" y="384048"/>
            <a:ext cx="8503920" cy="365760"/>
          </a:xfrm>
          <a:prstGeom prst="rect">
            <a:avLst/>
          </a:prstGeom>
          <a:solidFill>
            <a:srgbClr val="2F2B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44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512064"/>
            <a:ext cx="109728" cy="109728"/>
          </a:xfrm>
          <a:prstGeom prst="ellipse">
            <a:avLst/>
          </a:prstGeom>
          <a:solidFill>
            <a:srgbClr val="E0726B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512064"/>
            <a:ext cx="109728" cy="109728"/>
          </a:xfrm>
          <a:prstGeom prst="ellipse">
            <a:avLst/>
          </a:prstGeom>
          <a:solidFill>
            <a:srgbClr val="E2B250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512064"/>
            <a:ext cx="109728" cy="109728"/>
          </a:xfrm>
          <a:prstGeom prst="ellipse">
            <a:avLst/>
          </a:prstGeom>
          <a:solidFill>
            <a:srgbClr val="84B07A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1148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install.sh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1A1916">
              <a:alpha val="0"/>
            </a:srgbClr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claude-code-for-builders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32104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1207008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and you're in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658368" y="1874520"/>
            <a:ext cx="3977640" cy="96012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1874520"/>
            <a:ext cx="54864" cy="9601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183794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macOS · Linux · WSL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59536" y="2112264"/>
            <a:ext cx="3593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https://claude.ai/install.sh | bash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81728" y="1874520"/>
            <a:ext cx="3803904" cy="96012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1728" y="1874520"/>
            <a:ext cx="54864" cy="9601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0" name="Text 18"/>
          <p:cNvSpPr/>
          <p:nvPr/>
        </p:nvSpPr>
        <p:spPr>
          <a:xfrm>
            <a:off x="4864608" y="1837944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 PowerShell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82896" y="2112264"/>
            <a:ext cx="3419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irm https://claude.ai/install.ps1 | iex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" y="3035808"/>
            <a:ext cx="3977640" cy="141732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3035808"/>
            <a:ext cx="3977640" cy="50292"/>
          </a:xfrm>
          <a:prstGeom prst="rect">
            <a:avLst/>
          </a:prstGeom>
          <a:solidFill>
            <a:srgbClr val="84B07A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318211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Native install auto-updates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41248" y="3511296"/>
            <a:ext cx="36118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quietly stays on the latest version in the background. Homebrew and WinGet you upgrade by hand.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81728" y="3035808"/>
            <a:ext cx="3803904" cy="141732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1728" y="3035808"/>
            <a:ext cx="3803904" cy="50292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8" name="Text 26"/>
          <p:cNvSpPr/>
          <p:nvPr/>
        </p:nvSpPr>
        <p:spPr>
          <a:xfrm>
            <a:off x="4864608" y="3182112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 everywhere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864608" y="3511296"/>
            <a:ext cx="34381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the terminal: also VS Code, JetBrains, the desktop app, web, Slack, and CI/CD.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242019"/>
          </a:solidFill>
          <a:ln/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0040" y="384048"/>
            <a:ext cx="8503920" cy="365760"/>
          </a:xfrm>
          <a:prstGeom prst="rect">
            <a:avLst/>
          </a:prstGeom>
          <a:solidFill>
            <a:srgbClr val="2F2B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44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512064"/>
            <a:ext cx="109728" cy="109728"/>
          </a:xfrm>
          <a:prstGeom prst="ellipse">
            <a:avLst/>
          </a:prstGeom>
          <a:solidFill>
            <a:srgbClr val="E0726B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512064"/>
            <a:ext cx="109728" cy="109728"/>
          </a:xfrm>
          <a:prstGeom prst="ellipse">
            <a:avLst/>
          </a:prstGeom>
          <a:solidFill>
            <a:srgbClr val="E2B250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512064"/>
            <a:ext cx="109728" cy="109728"/>
          </a:xfrm>
          <a:prstGeom prst="ellipse">
            <a:avLst/>
          </a:prstGeom>
          <a:solidFill>
            <a:srgbClr val="84B07A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1148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login.sh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1A1916">
              <a:alpha val="0"/>
            </a:srgbClr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claude-code-for-builders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32104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IN &amp; LAUNCH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1207008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session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658368" y="1874520"/>
            <a:ext cx="3977640" cy="178308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1874520"/>
            <a:ext cx="54864" cy="178308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183794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run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59536" y="2112264"/>
            <a:ext cx="35935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my-project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» opens browser to log in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» switch / re-auth anytime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54880" y="1920240"/>
            <a:ext cx="3703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with Claude Pro, Max, Team, or a Console account.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are stored, so you log in once.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/help lists commands, /resume reopens a past chat.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/status shows version, model, and account anytime.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242019"/>
          </a:solidFill>
          <a:ln/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0040" y="384048"/>
            <a:ext cx="8503920" cy="365760"/>
          </a:xfrm>
          <a:prstGeom prst="rect">
            <a:avLst/>
          </a:prstGeom>
          <a:solidFill>
            <a:srgbClr val="2F2B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44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512064"/>
            <a:ext cx="109728" cy="109728"/>
          </a:xfrm>
          <a:prstGeom prst="ellipse">
            <a:avLst/>
          </a:prstGeom>
          <a:solidFill>
            <a:srgbClr val="E0726B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512064"/>
            <a:ext cx="109728" cy="109728"/>
          </a:xfrm>
          <a:prstGeom prst="ellipse">
            <a:avLst/>
          </a:prstGeom>
          <a:solidFill>
            <a:srgbClr val="E2B250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512064"/>
            <a:ext cx="109728" cy="109728"/>
          </a:xfrm>
          <a:prstGeom prst="ellipse">
            <a:avLst/>
          </a:prstGeom>
          <a:solidFill>
            <a:srgbClr val="84B07A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1148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the-interface.md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1A1916">
              <a:alpha val="0"/>
            </a:srgbClr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claude-code-for-builders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32104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ORIENTED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1207008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 screen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658368" y="1874520"/>
            <a:ext cx="4709160" cy="169164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1874520"/>
            <a:ext cx="54864" cy="16916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1837944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 see when it starts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59536" y="2112264"/>
            <a:ext cx="43251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  v2.x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claude-opus-4-8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cwd:   ~/taskflow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accept edits on · shift+tab to change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32120" y="18470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HEADER TELLS YOU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532120" y="2157984"/>
            <a:ext cx="2953512" cy="475488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32120" y="2157984"/>
            <a:ext cx="45720" cy="47548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1" name="Text 19"/>
          <p:cNvSpPr/>
          <p:nvPr/>
        </p:nvSpPr>
        <p:spPr>
          <a:xfrm>
            <a:off x="5687568" y="22128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687568" y="24140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Claude you're talking to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532120" y="2724912"/>
            <a:ext cx="2953512" cy="475488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32120" y="2724912"/>
            <a:ext cx="45720" cy="47548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5" name="Text 23"/>
          <p:cNvSpPr/>
          <p:nvPr/>
        </p:nvSpPr>
        <p:spPr>
          <a:xfrm>
            <a:off x="5687568" y="27797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cwd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87568" y="29809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folder it can read and edit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532120" y="3291840"/>
            <a:ext cx="2953512" cy="475488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32120" y="3291840"/>
            <a:ext cx="45720" cy="47548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9" name="Text 27"/>
          <p:cNvSpPr/>
          <p:nvPr/>
        </p:nvSpPr>
        <p:spPr>
          <a:xfrm>
            <a:off x="5687568" y="33467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&gt; prompt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687568" y="35478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type, in plain English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532120" y="3858768"/>
            <a:ext cx="2953512" cy="475488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32120" y="3858768"/>
            <a:ext cx="45720" cy="47548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3" name="Text 31"/>
          <p:cNvSpPr/>
          <p:nvPr/>
        </p:nvSpPr>
        <p:spPr>
          <a:xfrm>
            <a:off x="5687568" y="3913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 line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87568" y="4114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permission mode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242019"/>
          </a:solidFill>
          <a:ln/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0040" y="384048"/>
            <a:ext cx="8503920" cy="365760"/>
          </a:xfrm>
          <a:prstGeom prst="rect">
            <a:avLst/>
          </a:prstGeom>
          <a:solidFill>
            <a:srgbClr val="2F2B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44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512064"/>
            <a:ext cx="109728" cy="109728"/>
          </a:xfrm>
          <a:prstGeom prst="ellipse">
            <a:avLst/>
          </a:prstGeom>
          <a:solidFill>
            <a:srgbClr val="E0726B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512064"/>
            <a:ext cx="109728" cy="109728"/>
          </a:xfrm>
          <a:prstGeom prst="ellipse">
            <a:avLst/>
          </a:prstGeom>
          <a:solidFill>
            <a:srgbClr val="E2B250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512064"/>
            <a:ext cx="109728" cy="109728"/>
          </a:xfrm>
          <a:prstGeom prst="ellipse">
            <a:avLst/>
          </a:prstGeom>
          <a:solidFill>
            <a:srgbClr val="84B07A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1148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where-things-live.md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1A1916">
              <a:alpha val="0"/>
            </a:srgbClr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claude-code-for-builders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32104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YOUR FILES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1207008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everything lives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658368" y="1874520"/>
            <a:ext cx="4160520" cy="269748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1874520"/>
            <a:ext cx="54864" cy="269748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183794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personal Claude Code folder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59536" y="2112264"/>
            <a:ext cx="37764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~/.claude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settings.json   your settings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       your rules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commands/       /commands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agents/         subagents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         skills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projects/       auto memory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18470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SCOPES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83480" y="2176272"/>
            <a:ext cx="3502152" cy="512064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83480" y="2176272"/>
            <a:ext cx="50292" cy="512064"/>
          </a:xfrm>
          <a:prstGeom prst="rect">
            <a:avLst/>
          </a:prstGeom>
          <a:solidFill>
            <a:srgbClr val="84B07A"/>
          </a:solidFill>
          <a:ln/>
        </p:spPr>
      </p:sp>
      <p:sp>
        <p:nvSpPr>
          <p:cNvPr id="21" name="Text 19"/>
          <p:cNvSpPr/>
          <p:nvPr/>
        </p:nvSpPr>
        <p:spPr>
          <a:xfrm>
            <a:off x="5138928" y="224028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38928" y="245059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  ·  all your projects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83480" y="2779776"/>
            <a:ext cx="3502152" cy="512064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83480" y="2779776"/>
            <a:ext cx="50292" cy="5120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5" name="Text 23"/>
          <p:cNvSpPr/>
          <p:nvPr/>
        </p:nvSpPr>
        <p:spPr>
          <a:xfrm>
            <a:off x="5138928" y="284378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38928" y="30540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./.claude/  ·  commit it, team shares it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83480" y="3383280"/>
            <a:ext cx="3502152" cy="512064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83480" y="3383280"/>
            <a:ext cx="50292" cy="512064"/>
          </a:xfrm>
          <a:prstGeom prst="rect">
            <a:avLst/>
          </a:prstGeom>
          <a:solidFill>
            <a:srgbClr val="E2B250"/>
          </a:solidFill>
          <a:ln/>
        </p:spPr>
      </p:sp>
      <p:sp>
        <p:nvSpPr>
          <p:cNvPr id="29" name="Text 27"/>
          <p:cNvSpPr/>
          <p:nvPr/>
        </p:nvSpPr>
        <p:spPr>
          <a:xfrm>
            <a:off x="5138928" y="344728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38928" y="36576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settings.local.json  ·  just you, gitignored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83480" y="4114800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72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Cloud settings: your account, usage, and team controls (more on that later).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8503920" cy="4498848"/>
          </a:xfrm>
          <a:prstGeom prst="rect">
            <a:avLst/>
          </a:prstGeom>
          <a:solidFill>
            <a:srgbClr val="242019"/>
          </a:solidFill>
          <a:ln w="19050">
            <a:solidFill>
              <a:srgbClr val="D9775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0040" y="1874520"/>
            <a:ext cx="109728" cy="13716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41248" y="2212848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loop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68680" y="31546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Ask, edit, commit. The rhythm you'll use every single day.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claude-code-for-builders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32104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242019"/>
          </a:solidFill>
          <a:ln/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0040" y="384048"/>
            <a:ext cx="8503920" cy="365760"/>
          </a:xfrm>
          <a:prstGeom prst="rect">
            <a:avLst/>
          </a:prstGeom>
          <a:solidFill>
            <a:srgbClr val="2F2B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44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512064"/>
            <a:ext cx="109728" cy="109728"/>
          </a:xfrm>
          <a:prstGeom prst="ellipse">
            <a:avLst/>
          </a:prstGeom>
          <a:solidFill>
            <a:srgbClr val="E0726B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512064"/>
            <a:ext cx="109728" cy="109728"/>
          </a:xfrm>
          <a:prstGeom prst="ellipse">
            <a:avLst/>
          </a:prstGeom>
          <a:solidFill>
            <a:srgbClr val="E2B250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512064"/>
            <a:ext cx="109728" cy="109728"/>
          </a:xfrm>
          <a:prstGeom prst="ellipse">
            <a:avLst/>
          </a:prstGeom>
          <a:solidFill>
            <a:srgbClr val="84B07A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1148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how-it-works.md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1A1916">
              <a:alpha val="0"/>
            </a:srgbClr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claude-code-for-builders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32104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BIG IDEA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1207008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ChatGPT in a terminal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658368" y="1920240"/>
            <a:ext cx="4160520" cy="566928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9751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Reads your files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220370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opens the code itself. You don't paste anything in.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2569464"/>
            <a:ext cx="4160520" cy="566928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624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 commands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28529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git, your build: it can actually run them.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" y="3218688"/>
            <a:ext cx="4160520" cy="566928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273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Edits code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35021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writes changes straight into your files.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8368" y="3867912"/>
            <a:ext cx="4160520" cy="566928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9227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Asks permission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2960" y="415137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changes until you approve it.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8348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LOOP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83480" y="2139696"/>
            <a:ext cx="3246120" cy="365760"/>
          </a:xfrm>
          <a:prstGeom prst="rect">
            <a:avLst/>
          </a:prstGeom>
          <a:solidFill>
            <a:srgbClr val="171511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21396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3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83480" y="2478024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83480" y="2596896"/>
            <a:ext cx="3246120" cy="365760"/>
          </a:xfrm>
          <a:prstGeom prst="rect">
            <a:avLst/>
          </a:prstGeom>
          <a:solidFill>
            <a:srgbClr val="242019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25968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3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explores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83480" y="2935224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83480" y="3054096"/>
            <a:ext cx="3246120" cy="36576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0540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3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proposes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83480" y="3392424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83480" y="3511296"/>
            <a:ext cx="3246120" cy="365760"/>
          </a:xfrm>
          <a:prstGeom prst="rect">
            <a:avLst/>
          </a:prstGeom>
          <a:solidFill>
            <a:srgbClr val="242019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35112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13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approve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983480" y="3849624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983480" y="3968496"/>
            <a:ext cx="3246120" cy="36576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0" y="39684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13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acts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242019"/>
          </a:solidFill>
          <a:ln/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0040" y="384048"/>
            <a:ext cx="8503920" cy="365760"/>
          </a:xfrm>
          <a:prstGeom prst="rect">
            <a:avLst/>
          </a:prstGeom>
          <a:solidFill>
            <a:srgbClr val="2F2B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44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512064"/>
            <a:ext cx="109728" cy="109728"/>
          </a:xfrm>
          <a:prstGeom prst="ellipse">
            <a:avLst/>
          </a:prstGeom>
          <a:solidFill>
            <a:srgbClr val="E0726B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512064"/>
            <a:ext cx="109728" cy="109728"/>
          </a:xfrm>
          <a:prstGeom prst="ellipse">
            <a:avLst/>
          </a:prstGeom>
          <a:solidFill>
            <a:srgbClr val="E2B250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512064"/>
            <a:ext cx="109728" cy="109728"/>
          </a:xfrm>
          <a:prstGeom prst="ellipse">
            <a:avLst/>
          </a:prstGeom>
          <a:solidFill>
            <a:srgbClr val="84B07A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1148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ask.md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1A1916">
              <a:alpha val="0"/>
            </a:srgbClr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claude-code-for-builders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32104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1207008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before you touch anything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658368" y="1874520"/>
            <a:ext cx="4572000" cy="224028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1874520"/>
            <a:ext cx="54864" cy="224028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183794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these on the repo you just cloned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59536" y="2112264"/>
            <a:ext cx="418795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does this project do?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technologies does it use?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is the main entry point?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the folder structure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do I create custom skills?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394960" y="1874520"/>
            <a:ext cx="3090672" cy="105156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4960" y="1874520"/>
            <a:ext cx="3090672" cy="50292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0" name="Text 18"/>
          <p:cNvSpPr/>
          <p:nvPr/>
        </p:nvSpPr>
        <p:spPr>
          <a:xfrm>
            <a:off x="5577840" y="2020824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manual context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577840" y="2350008"/>
            <a:ext cx="27249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the files it needs on its own. You never attach anything.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394960" y="3044952"/>
            <a:ext cx="3090672" cy="1069848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94960" y="3044952"/>
            <a:ext cx="3090672" cy="50292"/>
          </a:xfrm>
          <a:prstGeom prst="rect">
            <a:avLst/>
          </a:prstGeom>
          <a:solidFill>
            <a:srgbClr val="84B07A"/>
          </a:solidFill>
          <a:ln/>
        </p:spPr>
      </p:sp>
      <p:sp>
        <p:nvSpPr>
          <p:cNvPr id="24" name="Text 22"/>
          <p:cNvSpPr/>
          <p:nvPr/>
        </p:nvSpPr>
        <p:spPr>
          <a:xfrm>
            <a:off x="5577840" y="3191256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 tip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577840" y="3520440"/>
            <a:ext cx="27249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let Claude explore first. Understanding beats editing blind.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242019"/>
          </a:solidFill>
          <a:ln/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0040" y="384048"/>
            <a:ext cx="8503920" cy="365760"/>
          </a:xfrm>
          <a:prstGeom prst="rect">
            <a:avLst/>
          </a:prstGeom>
          <a:solidFill>
            <a:srgbClr val="2F2B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44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512064"/>
            <a:ext cx="109728" cy="109728"/>
          </a:xfrm>
          <a:prstGeom prst="ellipse">
            <a:avLst/>
          </a:prstGeom>
          <a:solidFill>
            <a:srgbClr val="E0726B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512064"/>
            <a:ext cx="109728" cy="109728"/>
          </a:xfrm>
          <a:prstGeom prst="ellipse">
            <a:avLst/>
          </a:prstGeom>
          <a:solidFill>
            <a:srgbClr val="E2B250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512064"/>
            <a:ext cx="109728" cy="109728"/>
          </a:xfrm>
          <a:prstGeom prst="ellipse">
            <a:avLst/>
          </a:prstGeom>
          <a:solidFill>
            <a:srgbClr val="84B07A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1148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first-change.md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1A1916">
              <a:alpha val="0"/>
            </a:srgbClr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claude-code-for-builders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32104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1207008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code change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658368" y="1874520"/>
            <a:ext cx="4114800" cy="86868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1874520"/>
            <a:ext cx="54864" cy="86868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18379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prompt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59536" y="2112264"/>
            <a:ext cx="3730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a hello world function to the main file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13232" y="2944368"/>
            <a:ext cx="292608" cy="29260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33856" y="290779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right file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13232" y="3346704"/>
            <a:ext cx="292608" cy="29260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3346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33856" y="33101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you the proposed diff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13232" y="3749040"/>
            <a:ext cx="292608" cy="29260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33856" y="371246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your approval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13232" y="4151376"/>
            <a:ext cx="292608" cy="29260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33856" y="4114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edit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956048" y="1874520"/>
            <a:ext cx="3529584" cy="233172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56048" y="1874520"/>
            <a:ext cx="3529584" cy="50292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2" name="Text 30"/>
          <p:cNvSpPr/>
          <p:nvPr/>
        </p:nvSpPr>
        <p:spPr>
          <a:xfrm>
            <a:off x="5138928" y="2020824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You're always in control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138928" y="2350008"/>
            <a:ext cx="3163824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never changes a file without asking. Approve one edit at a time, or press Shift+Tab to cycle into accept-edits for a session when you trust the flow.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242019"/>
          </a:solidFill>
          <a:ln/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0040" y="384048"/>
            <a:ext cx="8503920" cy="365760"/>
          </a:xfrm>
          <a:prstGeom prst="rect">
            <a:avLst/>
          </a:prstGeom>
          <a:solidFill>
            <a:srgbClr val="2F2B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44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512064"/>
            <a:ext cx="109728" cy="109728"/>
          </a:xfrm>
          <a:prstGeom prst="ellipse">
            <a:avLst/>
          </a:prstGeom>
          <a:solidFill>
            <a:srgbClr val="E0726B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512064"/>
            <a:ext cx="109728" cy="109728"/>
          </a:xfrm>
          <a:prstGeom prst="ellipse">
            <a:avLst/>
          </a:prstGeom>
          <a:solidFill>
            <a:srgbClr val="E2B250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512064"/>
            <a:ext cx="109728" cy="109728"/>
          </a:xfrm>
          <a:prstGeom prst="ellipse">
            <a:avLst/>
          </a:prstGeom>
          <a:solidFill>
            <a:srgbClr val="84B07A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1148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git.md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1A1916">
              <a:alpha val="0"/>
            </a:srgbClr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claude-code-for-builders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32104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1207008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control, in plain English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658368" y="1874520"/>
            <a:ext cx="4572000" cy="228600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1874520"/>
            <a:ext cx="54864" cy="22860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183794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prompts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59536" y="2112264"/>
            <a:ext cx="41879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files have I changed?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my changes with a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descriptive message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a branch feature/quickstart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me the last 5 commits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help me resolve merge conflicts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394960" y="1874520"/>
            <a:ext cx="3090672" cy="228600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4960" y="1874520"/>
            <a:ext cx="3090672" cy="50292"/>
          </a:xfrm>
          <a:prstGeom prst="rect">
            <a:avLst/>
          </a:prstGeom>
          <a:solidFill>
            <a:srgbClr val="84B07A"/>
          </a:solidFill>
          <a:ln/>
        </p:spPr>
      </p:sp>
      <p:sp>
        <p:nvSpPr>
          <p:cNvPr id="20" name="Text 18"/>
          <p:cNvSpPr/>
          <p:nvPr/>
        </p:nvSpPr>
        <p:spPr>
          <a:xfrm>
            <a:off x="5577840" y="2020824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commands to memorize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577840" y="2350008"/>
            <a:ext cx="272491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same Git underneath. You describe the outcome and Claude writes the commands and a clean commit message for you.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8503920" cy="4498848"/>
          </a:xfrm>
          <a:prstGeom prst="rect">
            <a:avLst/>
          </a:prstGeom>
          <a:solidFill>
            <a:srgbClr val="242019"/>
          </a:solidFill>
          <a:ln w="19050">
            <a:solidFill>
              <a:srgbClr val="D9775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0040" y="1874520"/>
            <a:ext cx="109728" cy="13716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41248" y="2212848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68680" y="31546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commands, context, and permissions. This is what makes you fast.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claude-code-for-builders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32104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242019"/>
          </a:solidFill>
          <a:ln/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0040" y="384048"/>
            <a:ext cx="8503920" cy="365760"/>
          </a:xfrm>
          <a:prstGeom prst="rect">
            <a:avLst/>
          </a:prstGeom>
          <a:solidFill>
            <a:srgbClr val="2F2B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44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512064"/>
            <a:ext cx="109728" cy="109728"/>
          </a:xfrm>
          <a:prstGeom prst="ellipse">
            <a:avLst/>
          </a:prstGeom>
          <a:solidFill>
            <a:srgbClr val="E0726B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512064"/>
            <a:ext cx="109728" cy="109728"/>
          </a:xfrm>
          <a:prstGeom prst="ellipse">
            <a:avLst/>
          </a:prstGeom>
          <a:solidFill>
            <a:srgbClr val="E2B250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512064"/>
            <a:ext cx="109728" cy="109728"/>
          </a:xfrm>
          <a:prstGeom prst="ellipse">
            <a:avLst/>
          </a:prstGeom>
          <a:solidFill>
            <a:srgbClr val="84B07A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1148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slash-commands.md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1A1916">
              <a:alpha val="0"/>
            </a:srgbClr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claude-code-for-builders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32104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A SLASH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1207008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commands you'll use most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85800" y="1847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2121408"/>
            <a:ext cx="1143000" cy="36576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12140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/help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965960" y="21214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every command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2578608"/>
            <a:ext cx="1143000" cy="36576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57860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/clear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965960" y="2578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fresh, clear context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3035808"/>
            <a:ext cx="1143000" cy="36576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03580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/compact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965960" y="3035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to free context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3493008"/>
            <a:ext cx="1143000" cy="36576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49300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/resume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965960" y="3493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 a past chat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3950208"/>
            <a:ext cx="1143000" cy="36576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95020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/status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965960" y="3950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version, model, account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1847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DOING WORK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92040" y="2121408"/>
            <a:ext cx="1417320" cy="36576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1214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4B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/init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46520" y="21214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starter CLAUDE.md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92040" y="2578608"/>
            <a:ext cx="1417320" cy="36576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5786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4B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/model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46520" y="25786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the model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92040" y="3035808"/>
            <a:ext cx="1417320" cy="36576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0358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4B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/plan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446520" y="30358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before editing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92040" y="3493008"/>
            <a:ext cx="1417320" cy="36576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34930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4B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/permissions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446520" y="34930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what it can do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892040" y="3950208"/>
            <a:ext cx="1417320" cy="36576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39502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4B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/usage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446520" y="39502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cost and limits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85800" y="44988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9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just type  /  to see everything your version supports, then start typing to filter.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242019"/>
          </a:solidFill>
          <a:ln/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0040" y="384048"/>
            <a:ext cx="8503920" cy="365760"/>
          </a:xfrm>
          <a:prstGeom prst="rect">
            <a:avLst/>
          </a:prstGeom>
          <a:solidFill>
            <a:srgbClr val="2F2B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44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512064"/>
            <a:ext cx="109728" cy="109728"/>
          </a:xfrm>
          <a:prstGeom prst="ellipse">
            <a:avLst/>
          </a:prstGeom>
          <a:solidFill>
            <a:srgbClr val="E0726B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512064"/>
            <a:ext cx="109728" cy="109728"/>
          </a:xfrm>
          <a:prstGeom prst="ellipse">
            <a:avLst/>
          </a:prstGeom>
          <a:solidFill>
            <a:srgbClr val="E2B250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512064"/>
            <a:ext cx="109728" cy="109728"/>
          </a:xfrm>
          <a:prstGeom prst="ellipse">
            <a:avLst/>
          </a:prstGeom>
          <a:solidFill>
            <a:srgbClr val="84B07A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1148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context.md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1A1916">
              <a:alpha val="0"/>
            </a:srgbClr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claude-code-for-builders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32104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IS EVERYTHING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1207008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Claude focused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58368" y="1847088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only knows what's in its context window. Manage it and your results get sharper.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58368" y="2249424"/>
            <a:ext cx="3904488" cy="73152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2249424"/>
            <a:ext cx="50292" cy="7315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235000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/clear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41248" y="2651760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task? wipe the slate clean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36008" y="2249424"/>
            <a:ext cx="3904488" cy="73152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36008" y="2249424"/>
            <a:ext cx="50292" cy="731520"/>
          </a:xfrm>
          <a:prstGeom prst="rect">
            <a:avLst/>
          </a:prstGeom>
          <a:solidFill>
            <a:srgbClr val="84B07A"/>
          </a:solidFill>
          <a:ln/>
        </p:spPr>
      </p:sp>
      <p:sp>
        <p:nvSpPr>
          <p:cNvPr id="21" name="Text 19"/>
          <p:cNvSpPr/>
          <p:nvPr/>
        </p:nvSpPr>
        <p:spPr>
          <a:xfrm>
            <a:off x="4818888" y="235000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4B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/compact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818888" y="2651760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 but free up room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" y="3026664"/>
            <a:ext cx="3904488" cy="73152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3026664"/>
            <a:ext cx="50292" cy="731520"/>
          </a:xfrm>
          <a:prstGeom prst="rect">
            <a:avLst/>
          </a:prstGeom>
          <a:solidFill>
            <a:srgbClr val="E2B250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312724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2B2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/context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41248" y="3429000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full the window is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36008" y="3026664"/>
            <a:ext cx="3904488" cy="73152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36008" y="3026664"/>
            <a:ext cx="50292" cy="731520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29" name="Text 27"/>
          <p:cNvSpPr/>
          <p:nvPr/>
        </p:nvSpPr>
        <p:spPr>
          <a:xfrm>
            <a:off x="4818888" y="312724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9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/init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818888" y="3429000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CLAUDE.md to load every time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8368" y="3803904"/>
            <a:ext cx="3904488" cy="73152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" y="3803904"/>
            <a:ext cx="50292" cy="731520"/>
          </a:xfrm>
          <a:prstGeom prst="rect">
            <a:avLst/>
          </a:prstGeom>
          <a:solidFill>
            <a:srgbClr val="7FA6C4"/>
          </a:solidFill>
          <a:ln/>
        </p:spPr>
      </p:sp>
      <p:sp>
        <p:nvSpPr>
          <p:cNvPr id="33" name="Text 31"/>
          <p:cNvSpPr/>
          <p:nvPr/>
        </p:nvSpPr>
        <p:spPr>
          <a:xfrm>
            <a:off x="841248" y="390448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F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@app.py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41248" y="4206240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a specific file into the prompt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36008" y="3803904"/>
            <a:ext cx="3904488" cy="73152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36008" y="3803904"/>
            <a:ext cx="50292" cy="731520"/>
          </a:xfrm>
          <a:prstGeom prst="rect">
            <a:avLst/>
          </a:prstGeom>
          <a:solidFill>
            <a:srgbClr val="84B07A"/>
          </a:solidFill>
          <a:ln/>
        </p:spPr>
      </p:sp>
      <p:sp>
        <p:nvSpPr>
          <p:cNvPr id="37" name="Text 35"/>
          <p:cNvSpPr/>
          <p:nvPr/>
        </p:nvSpPr>
        <p:spPr>
          <a:xfrm>
            <a:off x="4818888" y="390448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4B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pytest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4818888" y="4206240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Claude to remember a rule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242019"/>
          </a:solidFill>
          <a:ln/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0040" y="384048"/>
            <a:ext cx="8503920" cy="365760"/>
          </a:xfrm>
          <a:prstGeom prst="rect">
            <a:avLst/>
          </a:prstGeom>
          <a:solidFill>
            <a:srgbClr val="2F2B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44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512064"/>
            <a:ext cx="109728" cy="109728"/>
          </a:xfrm>
          <a:prstGeom prst="ellipse">
            <a:avLst/>
          </a:prstGeom>
          <a:solidFill>
            <a:srgbClr val="E0726B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512064"/>
            <a:ext cx="109728" cy="109728"/>
          </a:xfrm>
          <a:prstGeom prst="ellipse">
            <a:avLst/>
          </a:prstGeom>
          <a:solidFill>
            <a:srgbClr val="E2B250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512064"/>
            <a:ext cx="109728" cy="109728"/>
          </a:xfrm>
          <a:prstGeom prst="ellipse">
            <a:avLst/>
          </a:prstGeom>
          <a:solidFill>
            <a:srgbClr val="84B07A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1148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permissions.md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1A1916">
              <a:alpha val="0"/>
            </a:srgbClr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claude-code-for-builders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32104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1207008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Shift+Tab to change the mode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658368" y="1920240"/>
            <a:ext cx="4892040" cy="676656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1920240"/>
            <a:ext cx="54864" cy="676656"/>
          </a:xfrm>
          <a:prstGeom prst="rect">
            <a:avLst/>
          </a:prstGeom>
          <a:solidFill>
            <a:srgbClr val="84B07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4B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230428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before the first use of each tool. The safe starting point.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" y="2706624"/>
            <a:ext cx="4892040" cy="676656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2706624"/>
            <a:ext cx="54864" cy="676656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7980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 edits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309067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Auto-accepts file edits in this folder. Fast once you trust it.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8368" y="3493008"/>
            <a:ext cx="4892040" cy="676656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3493008"/>
            <a:ext cx="54864" cy="676656"/>
          </a:xfrm>
          <a:prstGeom prst="rect">
            <a:avLst/>
          </a:prstGeom>
          <a:solidFill>
            <a:srgbClr val="E2B250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584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B2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387705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explores only, no edits. Proposes a plan first.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715000" y="1920240"/>
            <a:ext cx="2770632" cy="128016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15000" y="1920240"/>
            <a:ext cx="2770632" cy="50292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8" name="Text 26"/>
          <p:cNvSpPr/>
          <p:nvPr/>
        </p:nvSpPr>
        <p:spPr>
          <a:xfrm>
            <a:off x="5897880" y="2066544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the prompts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897880" y="2395728"/>
            <a:ext cx="2404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allow rules in .claude/settings.json so trusted commands never ask again.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715000" y="3291840"/>
            <a:ext cx="2770632" cy="1243584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15000" y="3291840"/>
            <a:ext cx="2770632" cy="50292"/>
          </a:xfrm>
          <a:prstGeom prst="rect">
            <a:avLst/>
          </a:prstGeom>
          <a:solidFill>
            <a:srgbClr val="84B07A"/>
          </a:solidFill>
          <a:ln/>
        </p:spPr>
      </p:sp>
      <p:sp>
        <p:nvSpPr>
          <p:cNvPr id="32" name="Text 30"/>
          <p:cNvSpPr/>
          <p:nvPr/>
        </p:nvSpPr>
        <p:spPr>
          <a:xfrm>
            <a:off x="5897880" y="3438144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 mode is gold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897880" y="3767328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plan mode for anything big. Review the plan, then let it build.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242019"/>
          </a:solidFill>
          <a:ln/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0040" y="384048"/>
            <a:ext cx="8503920" cy="365760"/>
          </a:xfrm>
          <a:prstGeom prst="rect">
            <a:avLst/>
          </a:prstGeom>
          <a:solidFill>
            <a:srgbClr val="2F2B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44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512064"/>
            <a:ext cx="109728" cy="109728"/>
          </a:xfrm>
          <a:prstGeom prst="ellipse">
            <a:avLst/>
          </a:prstGeom>
          <a:solidFill>
            <a:srgbClr val="E0726B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512064"/>
            <a:ext cx="109728" cy="109728"/>
          </a:xfrm>
          <a:prstGeom prst="ellipse">
            <a:avLst/>
          </a:prstGeom>
          <a:solidFill>
            <a:srgbClr val="E2B250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512064"/>
            <a:ext cx="109728" cy="109728"/>
          </a:xfrm>
          <a:prstGeom prst="ellipse">
            <a:avLst/>
          </a:prstGeom>
          <a:solidFill>
            <a:srgbClr val="84B07A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1148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input-tricks.md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1A1916">
              <a:alpha val="0"/>
            </a:srgbClr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claude-code-for-builders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32104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1207008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&amp; navigation tricks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685800" y="1920240"/>
            <a:ext cx="1051560" cy="36576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9202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874520" y="1920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 and skill menu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2377440"/>
            <a:ext cx="1051560" cy="36576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377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874520" y="23774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autocomplete a command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2834640"/>
            <a:ext cx="1051560" cy="36576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8346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874520" y="28346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through history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3291840"/>
            <a:ext cx="1051560" cy="36576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2918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874520" y="32918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stop, or press twice to rewind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" y="3749040"/>
            <a:ext cx="1051560" cy="36576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7490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874520" y="37490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the session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1847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SYMBOLS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92040" y="2139696"/>
            <a:ext cx="3593592" cy="475488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13969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68112" y="213969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a file: @app.py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892040" y="2706624"/>
            <a:ext cx="3593592" cy="475488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70662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B2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468112" y="270662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shell command inline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892040" y="3273552"/>
            <a:ext cx="3593592" cy="475488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27355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4B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468112" y="327355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rule to memory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892040" y="3931920"/>
            <a:ext cx="3593592" cy="566928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92040" y="3931920"/>
            <a:ext cx="50292" cy="56692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1" name="Text 39"/>
          <p:cNvSpPr/>
          <p:nvPr/>
        </p:nvSpPr>
        <p:spPr>
          <a:xfrm>
            <a:off x="5074920" y="39319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specific.  </a:t>
            </a:r>
            <a:pPr indent="0" marL="0">
              <a:buNone/>
            </a:pPr>
            <a:r>
              <a:rPr lang="en-US" sz="125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big asks into steps.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8503920" cy="4498848"/>
          </a:xfrm>
          <a:prstGeom prst="rect">
            <a:avLst/>
          </a:prstGeom>
          <a:solidFill>
            <a:srgbClr val="242019"/>
          </a:solidFill>
          <a:ln w="19050">
            <a:solidFill>
              <a:srgbClr val="D9775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0040" y="1874520"/>
            <a:ext cx="109728" cy="13716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41248" y="2212848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68680" y="31546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 real bug, ship a feature, and see the full range of what it can do.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claude-code-for-builders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32104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242019"/>
          </a:solidFill>
          <a:ln/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0040" y="384048"/>
            <a:ext cx="8503920" cy="365760"/>
          </a:xfrm>
          <a:prstGeom prst="rect">
            <a:avLst/>
          </a:prstGeom>
          <a:solidFill>
            <a:srgbClr val="2F2B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44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512064"/>
            <a:ext cx="109728" cy="109728"/>
          </a:xfrm>
          <a:prstGeom prst="ellipse">
            <a:avLst/>
          </a:prstGeom>
          <a:solidFill>
            <a:srgbClr val="E0726B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512064"/>
            <a:ext cx="109728" cy="109728"/>
          </a:xfrm>
          <a:prstGeom prst="ellipse">
            <a:avLst/>
          </a:prstGeom>
          <a:solidFill>
            <a:srgbClr val="E2B250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512064"/>
            <a:ext cx="109728" cy="109728"/>
          </a:xfrm>
          <a:prstGeom prst="ellipse">
            <a:avLst/>
          </a:prstGeom>
          <a:solidFill>
            <a:srgbClr val="84B07A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1148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debug.md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1A1916">
              <a:alpha val="0"/>
            </a:srgbClr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claude-code-for-builders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32104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1207008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 bug, ship a feature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658368" y="1874520"/>
            <a:ext cx="4572000" cy="178308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1874520"/>
            <a:ext cx="54864" cy="178308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183794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 the problem, not the solution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59536" y="2112264"/>
            <a:ext cx="41879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there's a bug where users can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submit empty forms, fix it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input validation to the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registration form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394960" y="18470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CLAUDE DOES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94960" y="2157984"/>
            <a:ext cx="3090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→"/>
            </a:pPr>
            <a:r>
              <a:rPr lang="en-US" sz="135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Locates the relevant code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→"/>
            </a:pPr>
            <a:r>
              <a:rPr lang="en-US" sz="135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the context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→"/>
            </a:pPr>
            <a:r>
              <a:rPr lang="en-US" sz="135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a solution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→"/>
            </a:pPr>
            <a:r>
              <a:rPr lang="en-US" sz="135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tests if they exist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242019"/>
          </a:solidFill>
          <a:ln/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0040" y="384048"/>
            <a:ext cx="8503920" cy="365760"/>
          </a:xfrm>
          <a:prstGeom prst="rect">
            <a:avLst/>
          </a:prstGeom>
          <a:solidFill>
            <a:srgbClr val="2F2B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44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512064"/>
            <a:ext cx="109728" cy="109728"/>
          </a:xfrm>
          <a:prstGeom prst="ellipse">
            <a:avLst/>
          </a:prstGeom>
          <a:solidFill>
            <a:srgbClr val="E0726B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512064"/>
            <a:ext cx="109728" cy="109728"/>
          </a:xfrm>
          <a:prstGeom prst="ellipse">
            <a:avLst/>
          </a:prstGeom>
          <a:solidFill>
            <a:srgbClr val="E2B250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512064"/>
            <a:ext cx="109728" cy="109728"/>
          </a:xfrm>
          <a:prstGeom prst="ellipse">
            <a:avLst/>
          </a:prstGeom>
          <a:solidFill>
            <a:srgbClr val="84B07A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1148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workflows.md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1A1916">
              <a:alpha val="0"/>
            </a:srgbClr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claude-code-for-builders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32104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MORE MOVES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1207008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everyday workflows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658368" y="1938528"/>
            <a:ext cx="3904488" cy="1078992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1938528"/>
            <a:ext cx="50292" cy="1078992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2066544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Refactor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" y="2395728"/>
            <a:ext cx="3538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refactor auth to use async/await instead of callbacks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36008" y="1938528"/>
            <a:ext cx="3904488" cy="1078992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36008" y="1938528"/>
            <a:ext cx="50292" cy="1078992"/>
          </a:xfrm>
          <a:prstGeom prst="rect">
            <a:avLst/>
          </a:prstGeom>
          <a:solidFill>
            <a:srgbClr val="84B07A"/>
          </a:solidFill>
          <a:ln/>
        </p:spPr>
      </p:sp>
      <p:sp>
        <p:nvSpPr>
          <p:cNvPr id="20" name="Text 18"/>
          <p:cNvSpPr/>
          <p:nvPr/>
        </p:nvSpPr>
        <p:spPr>
          <a:xfrm>
            <a:off x="4818888" y="2066544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tests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18888" y="2395728"/>
            <a:ext cx="3538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84B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unit tests for the calculator functions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8368" y="3145536"/>
            <a:ext cx="3904488" cy="1078992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3145536"/>
            <a:ext cx="50292" cy="1078992"/>
          </a:xfrm>
          <a:prstGeom prst="rect">
            <a:avLst/>
          </a:prstGeom>
          <a:solidFill>
            <a:srgbClr val="E2B250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327355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docs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1248" y="3602736"/>
            <a:ext cx="3538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2B2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the README with installation instructions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36008" y="3145536"/>
            <a:ext cx="3904488" cy="1078992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36008" y="3145536"/>
            <a:ext cx="50292" cy="1078992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28" name="Text 26"/>
          <p:cNvSpPr/>
          <p:nvPr/>
        </p:nvSpPr>
        <p:spPr>
          <a:xfrm>
            <a:off x="4818888" y="327355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review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18888" y="3602736"/>
            <a:ext cx="3538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89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my changes and suggest improvements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242019"/>
          </a:solidFill>
          <a:ln/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0040" y="384048"/>
            <a:ext cx="8503920" cy="365760"/>
          </a:xfrm>
          <a:prstGeom prst="rect">
            <a:avLst/>
          </a:prstGeom>
          <a:solidFill>
            <a:srgbClr val="2F2B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44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512064"/>
            <a:ext cx="109728" cy="109728"/>
          </a:xfrm>
          <a:prstGeom prst="ellipse">
            <a:avLst/>
          </a:prstGeom>
          <a:solidFill>
            <a:srgbClr val="E0726B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512064"/>
            <a:ext cx="109728" cy="109728"/>
          </a:xfrm>
          <a:prstGeom prst="ellipse">
            <a:avLst/>
          </a:prstGeom>
          <a:solidFill>
            <a:srgbClr val="E2B250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512064"/>
            <a:ext cx="109728" cy="109728"/>
          </a:xfrm>
          <a:prstGeom prst="ellipse">
            <a:avLst/>
          </a:prstGeom>
          <a:solidFill>
            <a:srgbClr val="84B07A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1148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more-examples.md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1A1916">
              <a:alpha val="0"/>
            </a:srgbClr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claude-code-for-builders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32104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BEYOND THE BASICS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1207008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things you can ask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658368" y="1901952"/>
            <a:ext cx="2542032" cy="118872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1901952"/>
            <a:ext cx="2542032" cy="45720"/>
          </a:xfrm>
          <a:prstGeom prst="rect">
            <a:avLst/>
          </a:prstGeom>
          <a:solidFill>
            <a:srgbClr val="84B07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02996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2350008"/>
            <a:ext cx="22311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84B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 how a login request flows through the app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00984" y="1901952"/>
            <a:ext cx="2542032" cy="118872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00984" y="1901952"/>
            <a:ext cx="2542032" cy="457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0" name="Text 18"/>
          <p:cNvSpPr/>
          <p:nvPr/>
        </p:nvSpPr>
        <p:spPr>
          <a:xfrm>
            <a:off x="3465576" y="202996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465576" y="2350008"/>
            <a:ext cx="22311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a dashboard of our top-returned UK products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0" y="1901952"/>
            <a:ext cx="2542032" cy="118872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1901952"/>
            <a:ext cx="2542032" cy="45720"/>
          </a:xfrm>
          <a:prstGeom prst="rect">
            <a:avLst/>
          </a:prstGeom>
          <a:solidFill>
            <a:srgbClr val="E2B250"/>
          </a:solidFill>
          <a:ln/>
        </p:spPr>
      </p:sp>
      <p:sp>
        <p:nvSpPr>
          <p:cNvPr id="24" name="Text 22"/>
          <p:cNvSpPr/>
          <p:nvPr/>
        </p:nvSpPr>
        <p:spPr>
          <a:xfrm>
            <a:off x="6108192" y="202996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108192" y="2350008"/>
            <a:ext cx="22311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2B2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 data/tasks.csv and summarize the trends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8368" y="3227832"/>
            <a:ext cx="2542032" cy="118872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3227832"/>
            <a:ext cx="2542032" cy="45720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335584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22960" y="3675888"/>
            <a:ext cx="22311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89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a script to rename these 200 files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00984" y="3227832"/>
            <a:ext cx="2542032" cy="118872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00984" y="3227832"/>
            <a:ext cx="2542032" cy="45720"/>
          </a:xfrm>
          <a:prstGeom prst="rect">
            <a:avLst/>
          </a:prstGeom>
          <a:solidFill>
            <a:srgbClr val="7FA6C4"/>
          </a:solidFill>
          <a:ln/>
        </p:spPr>
      </p:sp>
      <p:sp>
        <p:nvSpPr>
          <p:cNvPr id="32" name="Text 30"/>
          <p:cNvSpPr/>
          <p:nvPr/>
        </p:nvSpPr>
        <p:spPr>
          <a:xfrm>
            <a:off x="3465576" y="335584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465576" y="3675888"/>
            <a:ext cx="22311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F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this error and tell me how to fix it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43600" y="3227832"/>
            <a:ext cx="2542032" cy="118872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3227832"/>
            <a:ext cx="2542032" cy="457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6" name="Text 34"/>
          <p:cNvSpPr/>
          <p:nvPr/>
        </p:nvSpPr>
        <p:spPr>
          <a:xfrm>
            <a:off x="6108192" y="335584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Improve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108192" y="3675888"/>
            <a:ext cx="22311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and fix the slowest part of this endpoint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8503920" cy="4498848"/>
          </a:xfrm>
          <a:prstGeom prst="rect">
            <a:avLst/>
          </a:prstGeom>
          <a:solidFill>
            <a:srgbClr val="242019"/>
          </a:solidFill>
          <a:ln w="19050">
            <a:solidFill>
              <a:srgbClr val="D9775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0040" y="1874520"/>
            <a:ext cx="109728" cy="13716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41248" y="2212848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yours &amp; track it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68680" y="31546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Claude memory, extend it, and keep an eye on your usage.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claude-code-for-builders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32104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242019"/>
          </a:solidFill>
          <a:ln/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0040" y="384048"/>
            <a:ext cx="8503920" cy="365760"/>
          </a:xfrm>
          <a:prstGeom prst="rect">
            <a:avLst/>
          </a:prstGeom>
          <a:solidFill>
            <a:srgbClr val="2F2B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44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512064"/>
            <a:ext cx="109728" cy="109728"/>
          </a:xfrm>
          <a:prstGeom prst="ellipse">
            <a:avLst/>
          </a:prstGeom>
          <a:solidFill>
            <a:srgbClr val="E0726B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512064"/>
            <a:ext cx="109728" cy="109728"/>
          </a:xfrm>
          <a:prstGeom prst="ellipse">
            <a:avLst/>
          </a:prstGeom>
          <a:solidFill>
            <a:srgbClr val="E2B250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512064"/>
            <a:ext cx="109728" cy="109728"/>
          </a:xfrm>
          <a:prstGeom prst="ellipse">
            <a:avLst/>
          </a:prstGeom>
          <a:solidFill>
            <a:srgbClr val="84B07A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1148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1A1916">
              <a:alpha val="0"/>
            </a:srgbClr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claude-code-for-builders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32104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MEMORY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1207008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Claude your project once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658368" y="1874520"/>
            <a:ext cx="4343400" cy="260604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1874520"/>
            <a:ext cx="54864" cy="26060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183794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 in your repo root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59536" y="2112264"/>
            <a:ext cx="395935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TaskFlow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Commands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9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run:  python app.py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9B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test: pytest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Conventions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- 4-space indent, type hints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validate all form input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212080" y="1938528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it at the start of every session.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/init to generate a starter, then trim it.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under ~200 lines so it stays sharp.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 # remember X  to append a rule live.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it so your whole team shares the context.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242019"/>
          </a:solidFill>
          <a:ln/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0040" y="384048"/>
            <a:ext cx="8503920" cy="365760"/>
          </a:xfrm>
          <a:prstGeom prst="rect">
            <a:avLst/>
          </a:prstGeom>
          <a:solidFill>
            <a:srgbClr val="2F2B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44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512064"/>
            <a:ext cx="109728" cy="109728"/>
          </a:xfrm>
          <a:prstGeom prst="ellipse">
            <a:avLst/>
          </a:prstGeom>
          <a:solidFill>
            <a:srgbClr val="E0726B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512064"/>
            <a:ext cx="109728" cy="109728"/>
          </a:xfrm>
          <a:prstGeom prst="ellipse">
            <a:avLst/>
          </a:prstGeom>
          <a:solidFill>
            <a:srgbClr val="E2B250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512064"/>
            <a:ext cx="109728" cy="109728"/>
          </a:xfrm>
          <a:prstGeom prst="ellipse">
            <a:avLst/>
          </a:prstGeom>
          <a:solidFill>
            <a:srgbClr val="84B07A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1148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extend.md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1A1916">
              <a:alpha val="0"/>
            </a:srgbClr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claude-code-for-builders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32104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IT YOURS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1207008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ways to extend Claude Code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658368" y="1965960"/>
            <a:ext cx="2542032" cy="105156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1965960"/>
            <a:ext cx="2542032" cy="457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11226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 / commands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242316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workflows behind /name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00984" y="1965960"/>
            <a:ext cx="2542032" cy="105156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00984" y="1965960"/>
            <a:ext cx="2542032" cy="45720"/>
          </a:xfrm>
          <a:prstGeom prst="rect">
            <a:avLst/>
          </a:prstGeom>
          <a:solidFill>
            <a:srgbClr val="84B07A"/>
          </a:solidFill>
          <a:ln/>
        </p:spPr>
      </p:sp>
      <p:sp>
        <p:nvSpPr>
          <p:cNvPr id="20" name="Text 18"/>
          <p:cNvSpPr/>
          <p:nvPr/>
        </p:nvSpPr>
        <p:spPr>
          <a:xfrm>
            <a:off x="3465576" y="211226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465576" y="242316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helper with its own context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0" y="1965960"/>
            <a:ext cx="2542032" cy="105156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1965960"/>
            <a:ext cx="2542032" cy="45720"/>
          </a:xfrm>
          <a:prstGeom prst="rect">
            <a:avLst/>
          </a:prstGeom>
          <a:solidFill>
            <a:srgbClr val="E2B250"/>
          </a:solidFill>
          <a:ln/>
        </p:spPr>
      </p:sp>
      <p:sp>
        <p:nvSpPr>
          <p:cNvPr id="24" name="Text 22"/>
          <p:cNvSpPr/>
          <p:nvPr/>
        </p:nvSpPr>
        <p:spPr>
          <a:xfrm>
            <a:off x="6108192" y="211226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108192" y="242316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script on an event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8368" y="3172968"/>
            <a:ext cx="2542032" cy="105156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3172968"/>
            <a:ext cx="2542032" cy="45720"/>
          </a:xfrm>
          <a:prstGeom prst="rect">
            <a:avLst/>
          </a:prstGeom>
          <a:solidFill>
            <a:srgbClr val="7FA6C4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331927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2960" y="363016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outside tools and data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300984" y="3172968"/>
            <a:ext cx="2542032" cy="105156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00984" y="3172968"/>
            <a:ext cx="2542032" cy="45720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32" name="Text 30"/>
          <p:cNvSpPr/>
          <p:nvPr/>
        </p:nvSpPr>
        <p:spPr>
          <a:xfrm>
            <a:off x="3465576" y="331927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465576" y="363016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and share the above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943600" y="3172968"/>
            <a:ext cx="2542032" cy="105156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3172968"/>
            <a:ext cx="2542032" cy="45720"/>
          </a:xfrm>
          <a:prstGeom prst="rect">
            <a:avLst/>
          </a:prstGeom>
          <a:solidFill>
            <a:srgbClr val="84B07A"/>
          </a:solidFill>
          <a:ln/>
        </p:spPr>
      </p:sp>
      <p:sp>
        <p:nvSpPr>
          <p:cNvPr id="36" name="Text 34"/>
          <p:cNvSpPr/>
          <p:nvPr/>
        </p:nvSpPr>
        <p:spPr>
          <a:xfrm>
            <a:off x="6108192" y="331927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108192" y="363016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project rules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58368" y="4526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2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your Part 5 topics for a future deep dive. Today: just know they exist.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242019"/>
          </a:solidFill>
          <a:ln/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0040" y="384048"/>
            <a:ext cx="8503920" cy="365760"/>
          </a:xfrm>
          <a:prstGeom prst="rect">
            <a:avLst/>
          </a:prstGeom>
          <a:solidFill>
            <a:srgbClr val="2F2B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44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512064"/>
            <a:ext cx="109728" cy="109728"/>
          </a:xfrm>
          <a:prstGeom prst="ellipse">
            <a:avLst/>
          </a:prstGeom>
          <a:solidFill>
            <a:srgbClr val="E0726B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512064"/>
            <a:ext cx="109728" cy="109728"/>
          </a:xfrm>
          <a:prstGeom prst="ellipse">
            <a:avLst/>
          </a:prstGeom>
          <a:solidFill>
            <a:srgbClr val="E2B250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512064"/>
            <a:ext cx="109728" cy="109728"/>
          </a:xfrm>
          <a:prstGeom prst="ellipse">
            <a:avLst/>
          </a:prstGeom>
          <a:solidFill>
            <a:srgbClr val="84B07A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1148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usage.md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1A1916">
              <a:alpha val="0"/>
            </a:srgbClr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claude-code-for-builders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32104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 SETTINGS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1207008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your usage and cost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658368" y="1874520"/>
            <a:ext cx="3977640" cy="86868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1874520"/>
            <a:ext cx="54864" cy="86868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183794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it inside a session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59536" y="2112264"/>
            <a:ext cx="3593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/usage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(alias: /cost)  see limits &amp; spend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8368" y="2926080"/>
            <a:ext cx="3977640" cy="155448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2926080"/>
            <a:ext cx="3977640" cy="50292"/>
          </a:xfrm>
          <a:prstGeom prst="rect">
            <a:avLst/>
          </a:prstGeom>
          <a:solidFill>
            <a:srgbClr val="84B07A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307238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 / Max subscription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41248" y="3401568"/>
            <a:ext cx="36118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plan limits and how much you've used (24h / 7d). Not a bill. Full view at claude.ai/settings under Account and Usage.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81728" y="1874520"/>
            <a:ext cx="3803904" cy="1298448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81728" y="1874520"/>
            <a:ext cx="3803904" cy="50292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4" name="Text 22"/>
          <p:cNvSpPr/>
          <p:nvPr/>
        </p:nvSpPr>
        <p:spPr>
          <a:xfrm>
            <a:off x="4864608" y="2020824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 / API account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864608" y="2350008"/>
            <a:ext cx="34381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session cost and token breakdown. Authoritative billing and spend limits at console.anthropic.com/usage.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81728" y="3291840"/>
            <a:ext cx="3803904" cy="118872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1728" y="3291840"/>
            <a:ext cx="3803904" cy="50292"/>
          </a:xfrm>
          <a:prstGeom prst="rect">
            <a:avLst/>
          </a:prstGeom>
          <a:solidFill>
            <a:srgbClr val="E2B250"/>
          </a:solidFill>
          <a:ln/>
        </p:spPr>
      </p:sp>
      <p:sp>
        <p:nvSpPr>
          <p:cNvPr id="28" name="Text 26"/>
          <p:cNvSpPr/>
          <p:nvPr/>
        </p:nvSpPr>
        <p:spPr>
          <a:xfrm>
            <a:off x="4864608" y="3438144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 habits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864608" y="3767328"/>
            <a:ext cx="34381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/usage now and then. Set a spend limit if you're on API. /status shows your account anytime.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8503920" cy="4498848"/>
          </a:xfrm>
          <a:prstGeom prst="rect">
            <a:avLst/>
          </a:prstGeom>
          <a:solidFill>
            <a:srgbClr val="242019"/>
          </a:solidFill>
          <a:ln w="19050">
            <a:solidFill>
              <a:srgbClr val="D9775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0040" y="1874520"/>
            <a:ext cx="109728" cy="13716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41248" y="2212848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&amp; practice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68680" y="31546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cheat sheet, the demo repo, and what to do next.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claude-code-for-builders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32104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242019"/>
          </a:solidFill>
          <a:ln/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0040" y="384048"/>
            <a:ext cx="8503920" cy="365760"/>
          </a:xfrm>
          <a:prstGeom prst="rect">
            <a:avLst/>
          </a:prstGeom>
          <a:solidFill>
            <a:srgbClr val="2F2B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44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512064"/>
            <a:ext cx="109728" cy="109728"/>
          </a:xfrm>
          <a:prstGeom prst="ellipse">
            <a:avLst/>
          </a:prstGeom>
          <a:solidFill>
            <a:srgbClr val="E0726B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512064"/>
            <a:ext cx="109728" cy="109728"/>
          </a:xfrm>
          <a:prstGeom prst="ellipse">
            <a:avLst/>
          </a:prstGeom>
          <a:solidFill>
            <a:srgbClr val="E2B250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512064"/>
            <a:ext cx="109728" cy="109728"/>
          </a:xfrm>
          <a:prstGeom prst="ellipse">
            <a:avLst/>
          </a:prstGeom>
          <a:solidFill>
            <a:srgbClr val="84B07A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1148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cheatsheet.md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1A1916">
              <a:alpha val="0"/>
            </a:srgbClr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claude-code-for-builders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32104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KEEP THIS HANDY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1207008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cheat sheet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58368" y="18288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SHELL · from your terminal</a:t>
            </a:r>
            <a:endParaRPr lang="en-US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084832"/>
          <a:ext cx="3931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9775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command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9775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what it does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B2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EE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59E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a session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1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EE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 -c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59E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last chat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1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EE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claude -p "q"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59E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one-off, then exit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11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658368" y="33649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· inside Claude Code</a:t>
            </a:r>
            <a:endParaRPr lang="en-US" sz="1000" dirty="0"/>
          </a:p>
        </p:txBody>
      </p:sp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3621024"/>
          <a:ext cx="3931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945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9775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command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9775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what it does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B2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EE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/init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59E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a CLAUDE.md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1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EE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/clear · /compact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59E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context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1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EEE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/usage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59E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and limits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511"/>
                    </a:solidFill>
                  </a:tcPr>
                </a:tc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4892040" y="1828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SHORTCUTS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892040" y="2103120"/>
            <a:ext cx="1371600" cy="36576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9204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400800" y="21031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menu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892040" y="2560320"/>
            <a:ext cx="1371600" cy="36576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89204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Shift+Tab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6400800" y="25603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mode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892040" y="3017520"/>
            <a:ext cx="1371600" cy="36576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892040" y="3017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 file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6400800" y="30175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a file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892040" y="3474720"/>
            <a:ext cx="1371600" cy="36576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892040" y="3474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rule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6400800" y="34747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memory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4892040" y="3931920"/>
            <a:ext cx="1371600" cy="36576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892040" y="3931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 Esc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6400800" y="3931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rewind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242019"/>
          </a:solidFill>
          <a:ln/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0040" y="384048"/>
            <a:ext cx="8503920" cy="365760"/>
          </a:xfrm>
          <a:prstGeom prst="rect">
            <a:avLst/>
          </a:prstGeom>
          <a:solidFill>
            <a:srgbClr val="2F2B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44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512064"/>
            <a:ext cx="109728" cy="109728"/>
          </a:xfrm>
          <a:prstGeom prst="ellipse">
            <a:avLst/>
          </a:prstGeom>
          <a:solidFill>
            <a:srgbClr val="E0726B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512064"/>
            <a:ext cx="109728" cy="109728"/>
          </a:xfrm>
          <a:prstGeom prst="ellipse">
            <a:avLst/>
          </a:prstGeom>
          <a:solidFill>
            <a:srgbClr val="E2B250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512064"/>
            <a:ext cx="109728" cy="109728"/>
          </a:xfrm>
          <a:prstGeom prst="ellipse">
            <a:avLst/>
          </a:prstGeom>
          <a:solidFill>
            <a:srgbClr val="84B07A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1148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taskflow/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1A1916">
              <a:alpha val="0"/>
            </a:srgbClr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claude-code-for-builders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32104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DEMO REPO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1207008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TaskFlow, what we hacked on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658368" y="1874520"/>
            <a:ext cx="4160520" cy="269748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1874520"/>
            <a:ext cx="54864" cy="269748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183794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repo you'll clone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59536" y="2112264"/>
            <a:ext cx="37764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&lt;your-repo&gt;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taskflow/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app.py            entry point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taskflow/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calculator.py  stats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auth.py        auth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registration.py  bug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data/tasks.csv    demo data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README.md         thin docs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18470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FILE FEEDS A DEMO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83480" y="2176272"/>
            <a:ext cx="3502152" cy="475488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83480" y="2176272"/>
            <a:ext cx="50292" cy="475488"/>
          </a:xfrm>
          <a:prstGeom prst="rect">
            <a:avLst/>
          </a:prstGeom>
          <a:solidFill>
            <a:srgbClr val="E0726B"/>
          </a:solidFill>
          <a:ln/>
        </p:spPr>
      </p:sp>
      <p:sp>
        <p:nvSpPr>
          <p:cNvPr id="21" name="Text 19"/>
          <p:cNvSpPr/>
          <p:nvPr/>
        </p:nvSpPr>
        <p:spPr>
          <a:xfrm>
            <a:off x="5138928" y="223113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registration.py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138928" y="24323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empty-form bug, add validation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83480" y="2743200"/>
            <a:ext cx="3502152" cy="475488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83480" y="2743200"/>
            <a:ext cx="50292" cy="475488"/>
          </a:xfrm>
          <a:prstGeom prst="rect">
            <a:avLst/>
          </a:prstGeom>
          <a:solidFill>
            <a:srgbClr val="84B07A"/>
          </a:solidFill>
          <a:ln/>
        </p:spPr>
      </p:sp>
      <p:sp>
        <p:nvSpPr>
          <p:cNvPr id="25" name="Text 23"/>
          <p:cNvSpPr/>
          <p:nvPr/>
        </p:nvSpPr>
        <p:spPr>
          <a:xfrm>
            <a:off x="5138928" y="279806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calculator.py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138928" y="2999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funcs, write unit tests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83480" y="3310128"/>
            <a:ext cx="3502152" cy="475488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83480" y="3310128"/>
            <a:ext cx="50292" cy="475488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9" name="Text 27"/>
          <p:cNvSpPr/>
          <p:nvPr/>
        </p:nvSpPr>
        <p:spPr>
          <a:xfrm>
            <a:off x="5138928" y="336499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auth.py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138928" y="35661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callbacks, refactor to async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83480" y="3877056"/>
            <a:ext cx="3502152" cy="475488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83480" y="3877056"/>
            <a:ext cx="50292" cy="475488"/>
          </a:xfrm>
          <a:prstGeom prst="rect">
            <a:avLst/>
          </a:prstGeom>
          <a:solidFill>
            <a:srgbClr val="E2B250"/>
          </a:solidFill>
          <a:ln/>
        </p:spPr>
      </p:sp>
      <p:sp>
        <p:nvSpPr>
          <p:cNvPr id="33" name="Text 31"/>
          <p:cNvSpPr/>
          <p:nvPr/>
        </p:nvSpPr>
        <p:spPr>
          <a:xfrm>
            <a:off x="5138928" y="393192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data/tasks.csv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138928" y="41330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and summarize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242019"/>
          </a:solidFill>
          <a:ln/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0040" y="384048"/>
            <a:ext cx="8503920" cy="365760"/>
          </a:xfrm>
          <a:prstGeom prst="rect">
            <a:avLst/>
          </a:prstGeom>
          <a:solidFill>
            <a:srgbClr val="2F2B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749808"/>
            <a:ext cx="8503920" cy="0"/>
          </a:xfrm>
          <a:prstGeom prst="line">
            <a:avLst/>
          </a:prstGeom>
          <a:noFill/>
          <a:ln w="12700">
            <a:solidFill>
              <a:srgbClr val="44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512064"/>
            <a:ext cx="109728" cy="109728"/>
          </a:xfrm>
          <a:prstGeom prst="ellipse">
            <a:avLst/>
          </a:prstGeom>
          <a:solidFill>
            <a:srgbClr val="E0726B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512064"/>
            <a:ext cx="109728" cy="109728"/>
          </a:xfrm>
          <a:prstGeom prst="ellipse">
            <a:avLst/>
          </a:prstGeom>
          <a:solidFill>
            <a:srgbClr val="E2B250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512064"/>
            <a:ext cx="109728" cy="109728"/>
          </a:xfrm>
          <a:prstGeom prst="ellipse">
            <a:avLst/>
          </a:prstGeom>
          <a:solidFill>
            <a:srgbClr val="84B07A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1148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recap.md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384048"/>
            <a:ext cx="8503920" cy="4370832"/>
          </a:xfrm>
          <a:prstGeom prst="rect">
            <a:avLst/>
          </a:prstGeom>
          <a:solidFill>
            <a:srgbClr val="1A1916">
              <a:alpha val="0"/>
            </a:srgbClr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claude-code-for-builders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32104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 IT 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1207008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&amp; practice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658368" y="1920240"/>
            <a:ext cx="3840480" cy="2331720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1920240"/>
            <a:ext cx="3840480" cy="50292"/>
          </a:xfrm>
          <a:prstGeom prst="rect">
            <a:avLst/>
          </a:prstGeom>
          <a:solidFill>
            <a:srgbClr val="84B07A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206654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can now…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41248" y="2395728"/>
            <a:ext cx="347472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Install, log in, find your files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Ask a codebase about itself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Edit through the approval flow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Drive with slash commands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 context &amp; permissions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 a bug, add a feature, ship it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45152" y="1920240"/>
            <a:ext cx="3840480" cy="2331720"/>
          </a:xfrm>
          <a:prstGeom prst="rect">
            <a:avLst/>
          </a:prstGeom>
          <a:solidFill>
            <a:srgbClr val="171511"/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45152" y="1920240"/>
            <a:ext cx="3840480" cy="50292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0" name="Text 18"/>
          <p:cNvSpPr/>
          <p:nvPr/>
        </p:nvSpPr>
        <p:spPr>
          <a:xfrm>
            <a:off x="4828032" y="20665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IT YOURSELF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28032" y="2395728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own project: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run /init to make a CLAUDE.md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ask it what the project does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fix one thing and commit it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check /usage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89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reps are how it sticks.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8503920" cy="4498848"/>
          </a:xfrm>
          <a:prstGeom prst="rect">
            <a:avLst/>
          </a:prstGeom>
          <a:solidFill>
            <a:srgbClr val="242019"/>
          </a:solidFill>
          <a:ln/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0040" y="320040"/>
            <a:ext cx="8503920" cy="365760"/>
          </a:xfrm>
          <a:prstGeom prst="rect">
            <a:avLst/>
          </a:prstGeom>
          <a:solidFill>
            <a:srgbClr val="2F2B24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685800"/>
            <a:ext cx="8503920" cy="0"/>
          </a:xfrm>
          <a:prstGeom prst="line">
            <a:avLst/>
          </a:prstGeom>
          <a:noFill/>
          <a:ln w="12700">
            <a:solidFill>
              <a:srgbClr val="44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448056"/>
            <a:ext cx="109728" cy="109728"/>
          </a:xfrm>
          <a:prstGeom prst="ellipse">
            <a:avLst/>
          </a:prstGeom>
          <a:solidFill>
            <a:srgbClr val="E0726B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448056"/>
            <a:ext cx="109728" cy="109728"/>
          </a:xfrm>
          <a:prstGeom prst="ellipse">
            <a:avLst/>
          </a:prstGeom>
          <a:solidFill>
            <a:srgbClr val="E2B250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448056"/>
            <a:ext cx="109728" cy="109728"/>
          </a:xfrm>
          <a:prstGeom prst="ellipse">
            <a:avLst/>
          </a:prstGeom>
          <a:solidFill>
            <a:srgbClr val="84B07A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347472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9E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go-further.md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320040"/>
            <a:ext cx="8503920" cy="4498848"/>
          </a:xfrm>
          <a:prstGeom prst="rect">
            <a:avLst/>
          </a:prstGeom>
          <a:solidFill>
            <a:srgbClr val="1A1916">
              <a:alpha val="0"/>
            </a:srgbClr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FURTHER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" y="115214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Claude Code yours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31520" y="1810512"/>
            <a:ext cx="3703320" cy="585216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1810512"/>
            <a:ext cx="50292" cy="585216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19019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13969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memory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1810512"/>
            <a:ext cx="3703320" cy="585216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1810512"/>
            <a:ext cx="50292" cy="585216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9019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13969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workflows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520" y="2487168"/>
            <a:ext cx="3703320" cy="585216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2487168"/>
            <a:ext cx="50292" cy="585216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25786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281635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on events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9160" y="2487168"/>
            <a:ext cx="3703320" cy="585216"/>
          </a:xfrm>
          <a:prstGeom prst="rect">
            <a:avLst/>
          </a:prstGeom>
          <a:solidFill>
            <a:srgbClr val="171511"/>
          </a:solidFill>
          <a:ln w="12700">
            <a:solidFill>
              <a:srgbClr val="4440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2487168"/>
            <a:ext cx="50292" cy="585216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25786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281635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tools &amp; data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31520" y="3246120"/>
            <a:ext cx="7680960" cy="0"/>
          </a:xfrm>
          <a:prstGeom prst="line">
            <a:avLst/>
          </a:prstGeom>
          <a:noFill/>
          <a:ln w="12700">
            <a:solidFill>
              <a:srgbClr val="4440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429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4B0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600" dirty="0">
                <a:solidFill>
                  <a:srgbClr val="F0EE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buNone/>
            </a:pPr>
            <a:r>
              <a:rPr lang="en-US" sz="160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now go build something.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520" y="39776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59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Docs: code.claude.com/docs   ·   In-session help: /help   ·   Community: anthropic.com/discord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31520" y="4261104"/>
            <a:ext cx="1783080" cy="329184"/>
          </a:xfrm>
          <a:prstGeom prst="rect">
            <a:avLst/>
          </a:prstGeom>
          <a:solidFill>
            <a:srgbClr val="D977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A19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SENSE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51760" y="4261104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9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Launchpad community  ·  Keep building.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claude-code-for-builders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32104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26B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for Builders</dc:title>
  <dc:subject>PptxGenJS Presentation</dc:subject>
  <dc:creator>Data Sense · Launchpad</dc:creator>
  <cp:lastModifiedBy>Data Sense · Launchpad</cp:lastModifiedBy>
  <cp:revision>1</cp:revision>
  <dcterms:created xsi:type="dcterms:W3CDTF">2026-07-01T23:12:35Z</dcterms:created>
  <dcterms:modified xsi:type="dcterms:W3CDTF">2026-07-01T23:12:35Z</dcterms:modified>
</cp:coreProperties>
</file>